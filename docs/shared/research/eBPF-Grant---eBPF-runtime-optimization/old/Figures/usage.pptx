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42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5"/>
    <p:restoredTop sz="94647"/>
  </p:normalViewPr>
  <p:slideViewPr>
    <p:cSldViewPr snapToGrid="0" snapToObjects="1">
      <p:cViewPr varScale="1">
        <p:scale>
          <a:sx n="117" d="100"/>
          <a:sy n="117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70068-99D6-8247-92C5-B882FE4A4AA3}" type="datetimeFigureOut">
              <a:rPr lang="en-US" smtClean="0"/>
              <a:t>7/14/19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6C204-216B-AD40-ABBB-0FFDDC63FB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26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 will begin</a:t>
            </a:r>
            <a:r>
              <a:rPr lang="en-US" baseline="0" dirty="0"/>
              <a:t> my description of the design of Gist by explaining </a:t>
            </a:r>
            <a:r>
              <a:rPr lang="en-US" sz="1200" u="none" kern="1200" baseline="0" dirty="0">
                <a:solidFill>
                  <a:schemeClr val="tx1"/>
                </a:solidFill>
                <a:latin typeface="Helvetica" charset="0"/>
                <a:ea typeface="+mn-ea"/>
                <a:cs typeface="+mn-cs"/>
              </a:rPr>
              <a:t>how our proposed solution and architecture fits into the previously shown usage model.</a:t>
            </a:r>
          </a:p>
          <a:p>
            <a:pPr marL="171450" indent="-171450">
              <a:buFontTx/>
              <a:buChar char="-"/>
            </a:pPr>
            <a:endParaRPr lang="en-US" sz="1200" b="0" u="none" kern="1200" baseline="0" dirty="0">
              <a:solidFill>
                <a:schemeClr val="tx1"/>
              </a:solidFill>
              <a:latin typeface="Helvetica" charset="0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u="none" kern="1200" baseline="0" dirty="0">
                <a:solidFill>
                  <a:schemeClr val="tx1"/>
                </a:solidFill>
                <a:latin typeface="Helvetica" charset="0"/>
                <a:ea typeface="+mn-ea"/>
                <a:cs typeface="+mn-cs"/>
              </a:rPr>
              <a:t>Gist</a:t>
            </a:r>
            <a:r>
              <a:rPr lang="en-US" sz="1200" b="1" u="none" kern="1200" baseline="0" dirty="0">
                <a:solidFill>
                  <a:schemeClr val="tx1"/>
                </a:solidFill>
                <a:latin typeface="Helvetica" charset="0"/>
                <a:ea typeface="+mn-ea"/>
                <a:cs typeface="+mn-cs"/>
              </a:rPr>
              <a:t> &lt;click&gt; </a:t>
            </a:r>
            <a:r>
              <a:rPr lang="en-US" sz="1200" b="0" u="none" kern="1200" baseline="0" dirty="0">
                <a:solidFill>
                  <a:schemeClr val="tx1"/>
                </a:solidFill>
                <a:latin typeface="Helvetica" charset="0"/>
                <a:ea typeface="+mn-ea"/>
                <a:cs typeface="+mn-cs"/>
              </a:rPr>
              <a:t>has a client-server architecture that uses a hybrid static dynamic analysis. The server side does heavyweight  static analysis and the client side does lightweight dynamic analysis.</a:t>
            </a:r>
          </a:p>
          <a:p>
            <a:pPr marL="171450" indent="-171450">
              <a:buFontTx/>
              <a:buChar char="-"/>
            </a:pPr>
            <a:endParaRPr lang="en-US" sz="1200" b="0" u="none" kern="1200" baseline="0" dirty="0">
              <a:solidFill>
                <a:schemeClr val="tx1"/>
              </a:solidFill>
              <a:latin typeface="Helvetica" charset="0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u="none" kern="1200" baseline="0" dirty="0">
                <a:solidFill>
                  <a:schemeClr val="tx1"/>
                </a:solidFill>
                <a:latin typeface="Helvetica" charset="0"/>
                <a:ea typeface="+mn-ea"/>
                <a:cs typeface="+mn-cs"/>
              </a:rPr>
              <a:t>The server side component takes as input </a:t>
            </a:r>
            <a:r>
              <a:rPr lang="en-US" sz="1200" b="1" u="none" kern="1200" baseline="0" dirty="0">
                <a:solidFill>
                  <a:schemeClr val="tx1"/>
                </a:solidFill>
                <a:latin typeface="Helvetica" charset="0"/>
                <a:ea typeface="+mn-ea"/>
                <a:cs typeface="+mn-cs"/>
              </a:rPr>
              <a:t>&lt;click&gt;</a:t>
            </a:r>
            <a:r>
              <a:rPr lang="en-US" sz="1200" b="0" u="none" kern="1200" baseline="0" dirty="0">
                <a:solidFill>
                  <a:schemeClr val="tx1"/>
                </a:solidFill>
                <a:latin typeface="Helvetica" charset="0"/>
                <a:ea typeface="+mn-ea"/>
                <a:cs typeface="+mn-cs"/>
              </a:rPr>
              <a:t> the failure report from the users (such as a core dump), and the source code of the program being debugged.</a:t>
            </a:r>
          </a:p>
          <a:p>
            <a:pPr marL="171450" indent="-171450">
              <a:buFontTx/>
              <a:buChar char="-"/>
            </a:pPr>
            <a:endParaRPr lang="en-US" sz="1200" b="0" u="none" kern="1200" baseline="0" dirty="0">
              <a:solidFill>
                <a:schemeClr val="tx1"/>
              </a:solidFill>
              <a:latin typeface="Helvetica" charset="0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u="none" kern="1200" baseline="0" dirty="0">
                <a:solidFill>
                  <a:schemeClr val="tx1"/>
                </a:solidFill>
                <a:latin typeface="Helvetica" charset="0"/>
                <a:ea typeface="+mn-ea"/>
                <a:cs typeface="+mn-cs"/>
              </a:rPr>
              <a:t>These inputs are then fed into a static analyzer </a:t>
            </a:r>
            <a:r>
              <a:rPr lang="en-US" sz="1200" b="1" u="none" kern="1200" baseline="0" dirty="0">
                <a:solidFill>
                  <a:schemeClr val="tx1"/>
                </a:solidFill>
                <a:latin typeface="Helvetica" charset="0"/>
                <a:ea typeface="+mn-ea"/>
                <a:cs typeface="+mn-cs"/>
              </a:rPr>
              <a:t>&lt;click&gt;</a:t>
            </a:r>
            <a:r>
              <a:rPr lang="en-US" sz="1200" b="0" u="none" kern="1200" baseline="0" dirty="0">
                <a:solidFill>
                  <a:schemeClr val="tx1"/>
                </a:solidFill>
                <a:latin typeface="Helvetica" charset="0"/>
                <a:ea typeface="+mn-ea"/>
                <a:cs typeface="+mn-cs"/>
              </a:rPr>
              <a:t>, which computes a static slice using these inputs. The static slice contains program statements that potentially affect the statement where the failure occurs.</a:t>
            </a:r>
          </a:p>
          <a:p>
            <a:pPr marL="171450" indent="-171450">
              <a:buFontTx/>
              <a:buChar char="-"/>
            </a:pPr>
            <a:endParaRPr lang="en-US" sz="1200" b="0" u="none" kern="1200" baseline="0" dirty="0">
              <a:solidFill>
                <a:schemeClr val="tx1"/>
              </a:solidFill>
              <a:latin typeface="Helvetica" charset="0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u="none" kern="1200" baseline="0" dirty="0">
                <a:solidFill>
                  <a:schemeClr val="tx1"/>
                </a:solidFill>
                <a:latin typeface="Helvetica" charset="0"/>
                <a:ea typeface="+mn-ea"/>
                <a:cs typeface="+mn-cs"/>
              </a:rPr>
              <a:t>The client side of our approach gathers </a:t>
            </a:r>
            <a:r>
              <a:rPr lang="en-US" sz="1200" b="1" u="none" kern="1200" baseline="0" dirty="0">
                <a:solidFill>
                  <a:schemeClr val="tx1"/>
                </a:solidFill>
                <a:latin typeface="Helvetica" charset="0"/>
                <a:ea typeface="+mn-ea"/>
                <a:cs typeface="+mn-cs"/>
              </a:rPr>
              <a:t>&lt;click&gt; </a:t>
            </a:r>
            <a:r>
              <a:rPr lang="en-US" sz="1200" b="0" u="none" kern="1200" baseline="0" dirty="0">
                <a:solidFill>
                  <a:schemeClr val="tx1"/>
                </a:solidFill>
                <a:latin typeface="Helvetica" charset="0"/>
                <a:ea typeface="+mn-ea"/>
                <a:cs typeface="+mn-cs"/>
              </a:rPr>
              <a:t>more control and a data flow traces from both failing and successful executions by instrumenting programs in user sites by taking into account the slice that the static analyzer computed.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697D9-2452-334D-9C03-8E070777122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799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95337-1E57-3647-89A7-48C422FF6D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9B4598-AC36-D249-828C-3F4AF81DA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FEE77-2F00-814C-B310-6D374A54B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19AF-DC5D-3241-A410-A8C6AFB2F25A}" type="datetimeFigureOut">
              <a:rPr lang="en-US" smtClean="0"/>
              <a:t>7/14/19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CEA05-9954-B146-A179-F672482D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90C25-6C97-DE4C-B64C-2E191E36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AB9C-D66D-914B-9D35-578F1B9D8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67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A8FE-0D28-D141-BA32-883855B64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FBBAB-472F-5B4F-8C44-C7E4422CE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80FCF-0C0C-7B4C-85BD-7C80C38DB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19AF-DC5D-3241-A410-A8C6AFB2F25A}" type="datetimeFigureOut">
              <a:rPr lang="en-US" smtClean="0"/>
              <a:t>7/14/19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E5CB5-9FDC-1C4E-9D97-4BAC56B04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35E66-D461-A544-A587-E1DBD809E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AB9C-D66D-914B-9D35-578F1B9D8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14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2E8BC-A4E7-5942-ABDE-CB529E04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1C02A-8AE4-2540-A967-3E8E314CA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A39C6-71B0-E141-A35D-977827B1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19AF-DC5D-3241-A410-A8C6AFB2F25A}" type="datetimeFigureOut">
              <a:rPr lang="en-US" smtClean="0"/>
              <a:t>7/14/19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77CA5-2B6C-6941-AD57-8A14CDBC9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BE8E8-BB38-DA42-9982-592D4EB99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AB9C-D66D-914B-9D35-578F1B9D8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14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AEC9B-1023-704E-B554-C82F819F6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E3209-CC44-FC46-92C1-520D65C4EA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60597-65D2-1E4D-A5EA-1B6F3AA00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4C60A-2434-F54B-A7AD-691FFA48C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19AF-DC5D-3241-A410-A8C6AFB2F25A}" type="datetimeFigureOut">
              <a:rPr lang="en-US" smtClean="0"/>
              <a:t>7/14/19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2FD29-72A1-B844-8161-AEC217BFF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B516D-16FA-5946-ABE8-8C25615C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AB9C-D66D-914B-9D35-578F1B9D8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3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20147-4F84-1F4F-BD24-67DC4EC95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81C28-8B24-D44A-A5DF-C06820884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28C14-18EA-2947-8829-B48A499DB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BD927-716A-0345-BB61-E1609BA60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D8BBD-E516-8D4A-97F9-D5B5E1BA7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B5E263-0957-1F45-AB01-E77DBBA0C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19AF-DC5D-3241-A410-A8C6AFB2F25A}" type="datetimeFigureOut">
              <a:rPr lang="en-US" smtClean="0"/>
              <a:t>7/14/19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44638-CD6C-1247-921C-057E06659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052CD-2A24-764E-B835-F69EA3B2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AB9C-D66D-914B-9D35-578F1B9D8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8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AF36-B452-7346-960B-82A394DD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157D1-B491-A540-B425-72DE811F5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19AF-DC5D-3241-A410-A8C6AFB2F25A}" type="datetimeFigureOut">
              <a:rPr lang="en-US" smtClean="0"/>
              <a:t>7/14/19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051B7-D30B-9044-9FD2-32C80DED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08B64A-7F1D-EE4B-8BB2-C8310CF27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AB9C-D66D-914B-9D35-578F1B9D8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7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093B1-0AF5-B54F-A7EB-380F14D5F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19AF-DC5D-3241-A410-A8C6AFB2F25A}" type="datetimeFigureOut">
              <a:rPr lang="en-US" smtClean="0"/>
              <a:t>7/14/19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1527BE-E482-E54E-AD7B-AA298C6E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3E68E-AFBC-A24D-AD57-EFD6E36C6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AB9C-D66D-914B-9D35-578F1B9D8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68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BB781-7639-8448-B618-3D2A1C0B2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A595F-72CB-7340-B53C-159FADEC5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2819F-8CC3-E143-84FE-31D89A3E1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25E99-E1EA-774A-B7F6-3F08CC925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19AF-DC5D-3241-A410-A8C6AFB2F25A}" type="datetimeFigureOut">
              <a:rPr lang="en-US" smtClean="0"/>
              <a:t>7/14/19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99385-52EA-C640-B7E5-31EC2F559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44D72-FE96-8D4B-9618-B9373BF1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AB9C-D66D-914B-9D35-578F1B9D8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337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1FC40-8F8A-6547-8E28-5FBCD5F26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5C3F7-ADF4-A648-AE19-EC013EB560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D29D0-AA30-8544-A9A8-775998E18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9FF1-3FB3-3444-845E-629532FB3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19AF-DC5D-3241-A410-A8C6AFB2F25A}" type="datetimeFigureOut">
              <a:rPr lang="en-US" smtClean="0"/>
              <a:t>7/14/19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E3DC7-8F95-974E-A4E2-19E3A4A94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4FB7C-C725-354D-B284-6256A3880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AB9C-D66D-914B-9D35-578F1B9D8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805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A199-5564-AE45-BF5C-D25A0C99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928455-5D7E-F245-A51B-9457FEB4F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96C2B-7E95-FB4C-A094-35798041A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19AF-DC5D-3241-A410-A8C6AFB2F25A}" type="datetimeFigureOut">
              <a:rPr lang="en-US" smtClean="0"/>
              <a:t>7/14/19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01605-0FA6-B547-A9F9-B0642B2C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C81C4-F9BF-8042-B010-89231025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AB9C-D66D-914B-9D35-578F1B9D8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4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BED0DD-C6E3-C841-85FE-CA6C51E9BF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779ED-CC56-1D41-A9CE-39C5206CF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33BFC-C98F-B844-AA50-A6400A60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19AF-DC5D-3241-A410-A8C6AFB2F25A}" type="datetimeFigureOut">
              <a:rPr lang="en-US" smtClean="0"/>
              <a:t>7/14/19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B56DD-D215-B444-A7A8-003F4124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F8083-0E09-8749-B95B-CA4655A2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AB9C-D66D-914B-9D35-578F1B9D8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094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AB3970-4CC7-8B47-A21E-E2BBB3EC8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5E2E2-CC3E-6F4B-9915-A76535D53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3693E-A5C6-FA43-9237-DE113D40D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219AF-DC5D-3241-A410-A8C6AFB2F25A}" type="datetimeFigureOut">
              <a:rPr lang="en-US" smtClean="0"/>
              <a:t>7/14/19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E3577-E50F-1243-B25C-F2E1860B7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BEFD4-C3F2-3D4A-9E81-61E868463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3AB9C-D66D-914B-9D35-578F1B9D8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0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iff"/><Relationship Id="rId3" Type="http://schemas.openxmlformats.org/officeDocument/2006/relationships/image" Target="../media/image1.tiff"/><Relationship Id="rId7" Type="http://schemas.openxmlformats.org/officeDocument/2006/relationships/image" Target="../media/image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tif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BB835C7-4258-D34B-AE49-77F8DD092A45}"/>
              </a:ext>
            </a:extLst>
          </p:cNvPr>
          <p:cNvGrpSpPr/>
          <p:nvPr/>
        </p:nvGrpSpPr>
        <p:grpSpPr>
          <a:xfrm>
            <a:off x="3125675" y="1247243"/>
            <a:ext cx="1347342" cy="1268424"/>
            <a:chOff x="3963527" y="1251768"/>
            <a:chExt cx="1347342" cy="1268424"/>
          </a:xfrm>
        </p:grpSpPr>
        <p:sp>
          <p:nvSpPr>
            <p:cNvPr id="38" name="Rounded Rectangle 37"/>
            <p:cNvSpPr/>
            <p:nvPr/>
          </p:nvSpPr>
          <p:spPr>
            <a:xfrm>
              <a:off x="3963527" y="1251768"/>
              <a:ext cx="1347342" cy="12684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Helvetica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995601" y="1603774"/>
              <a:ext cx="13035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Helvetica" charset="0"/>
                  <a:ea typeface="Helvetica" charset="0"/>
                  <a:cs typeface="Helvetica" charset="0"/>
                </a:rPr>
                <a:t>Server</a:t>
              </a:r>
            </a:p>
          </p:txBody>
        </p:sp>
      </p:grpSp>
      <p:sp>
        <p:nvSpPr>
          <p:cNvPr id="109" name="Rounded Rectangle 108"/>
          <p:cNvSpPr/>
          <p:nvPr/>
        </p:nvSpPr>
        <p:spPr>
          <a:xfrm>
            <a:off x="6711216" y="1219241"/>
            <a:ext cx="1844956" cy="37559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Helvetica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908295" y="1184825"/>
            <a:ext cx="1383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" charset="0"/>
                <a:ea typeface="Helvetica" charset="0"/>
                <a:cs typeface="Helvetica" charset="0"/>
              </a:rPr>
              <a:t>Clients</a:t>
            </a:r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184" y="1469823"/>
            <a:ext cx="1325042" cy="1325042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480" y="1738937"/>
            <a:ext cx="720386" cy="739855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903" y="2883154"/>
            <a:ext cx="695624" cy="695624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1480" y="2820477"/>
            <a:ext cx="769060" cy="759325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590" y="3880279"/>
            <a:ext cx="950229" cy="950229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817" y="3956943"/>
            <a:ext cx="720386" cy="73985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3324" y="3361106"/>
            <a:ext cx="1191674" cy="1191674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19CB9EC1-E7F9-C140-BA7C-2FE43F1C0E0C}"/>
              </a:ext>
            </a:extLst>
          </p:cNvPr>
          <p:cNvSpPr txBox="1"/>
          <p:nvPr/>
        </p:nvSpPr>
        <p:spPr>
          <a:xfrm>
            <a:off x="2763366" y="4571188"/>
            <a:ext cx="2005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" charset="0"/>
                <a:ea typeface="Helvetica" charset="0"/>
                <a:cs typeface="Helvetica" charset="0"/>
              </a:rPr>
              <a:t>Developers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2286E3-061D-774E-A9C7-A3AF2B1578FB}"/>
              </a:ext>
            </a:extLst>
          </p:cNvPr>
          <p:cNvCxnSpPr/>
          <p:nvPr/>
        </p:nvCxnSpPr>
        <p:spPr>
          <a:xfrm>
            <a:off x="4473017" y="1881455"/>
            <a:ext cx="2238198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7CFF2C-E7E1-A147-933D-F190AC8766A2}"/>
              </a:ext>
            </a:extLst>
          </p:cNvPr>
          <p:cNvCxnSpPr>
            <a:cxnSpLocks/>
          </p:cNvCxnSpPr>
          <p:nvPr/>
        </p:nvCxnSpPr>
        <p:spPr>
          <a:xfrm flipH="1" flipV="1">
            <a:off x="4473017" y="2244436"/>
            <a:ext cx="2257473" cy="21346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35703DFE-BD44-7C4B-90FC-E0A1303B878D}"/>
              </a:ext>
            </a:extLst>
          </p:cNvPr>
          <p:cNvSpPr txBox="1"/>
          <p:nvPr/>
        </p:nvSpPr>
        <p:spPr>
          <a:xfrm>
            <a:off x="4551688" y="882487"/>
            <a:ext cx="21788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Program-specific </a:t>
            </a:r>
          </a:p>
          <a:p>
            <a:pPr algn="ctr"/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and adaptive</a:t>
            </a:r>
          </a:p>
          <a:p>
            <a:pPr algn="ctr"/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monitoring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37B02C5-757A-8545-9C5C-5A614DBBF272}"/>
              </a:ext>
            </a:extLst>
          </p:cNvPr>
          <p:cNvSpPr txBox="1"/>
          <p:nvPr/>
        </p:nvSpPr>
        <p:spPr>
          <a:xfrm>
            <a:off x="4427260" y="2275252"/>
            <a:ext cx="24453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Execution Information</a:t>
            </a:r>
          </a:p>
          <a:p>
            <a:pPr algn="ctr"/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(branches, </a:t>
            </a:r>
          </a:p>
          <a:p>
            <a:pPr algn="ctr"/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data values, </a:t>
            </a:r>
          </a:p>
          <a:p>
            <a:pPr algn="ctr"/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core dumps, etc.)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98E5A68-DB0C-9841-927F-A5E075CCFC17}"/>
              </a:ext>
            </a:extLst>
          </p:cNvPr>
          <p:cNvCxnSpPr>
            <a:cxnSpLocks/>
          </p:cNvCxnSpPr>
          <p:nvPr/>
        </p:nvCxnSpPr>
        <p:spPr>
          <a:xfrm>
            <a:off x="4253086" y="2545912"/>
            <a:ext cx="0" cy="719446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34D70413-6BC8-114D-9B07-8E16F28AD83C}"/>
              </a:ext>
            </a:extLst>
          </p:cNvPr>
          <p:cNvSpPr txBox="1"/>
          <p:nvPr/>
        </p:nvSpPr>
        <p:spPr>
          <a:xfrm>
            <a:off x="2592268" y="2566676"/>
            <a:ext cx="1880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Reproduced</a:t>
            </a:r>
          </a:p>
          <a:p>
            <a:pPr algn="ctr"/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bugs</a:t>
            </a:r>
          </a:p>
        </p:txBody>
      </p:sp>
    </p:spTree>
    <p:extLst>
      <p:ext uri="{BB962C8B-B14F-4D97-AF65-F5344CB8AC3E}">
        <p14:creationId xmlns:p14="http://schemas.microsoft.com/office/powerpoint/2010/main" val="183322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192</Words>
  <Application>Microsoft Macintosh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</dc:title>
  <dc:creator>Baris Kasikci</dc:creator>
  <cp:lastModifiedBy>Microsoft Office User</cp:lastModifiedBy>
  <cp:revision>6</cp:revision>
  <cp:lastPrinted>2019-07-14T16:55:55Z</cp:lastPrinted>
  <dcterms:created xsi:type="dcterms:W3CDTF">2019-06-26T20:01:58Z</dcterms:created>
  <dcterms:modified xsi:type="dcterms:W3CDTF">2019-07-14T16:56:04Z</dcterms:modified>
</cp:coreProperties>
</file>